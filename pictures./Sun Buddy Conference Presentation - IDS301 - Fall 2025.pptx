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T Sans Narrow"/>
      <p:regular r:id="rId21"/>
      <p:bold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TSansNarrow-bold.fntdata"/><Relationship Id="rId21" Type="http://schemas.openxmlformats.org/officeDocument/2006/relationships/font" Target="fonts/PTSansNarrow-regular.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Each person </a:t>
            </a:r>
            <a:r>
              <a:rPr lang="en"/>
              <a:t>introduces</a:t>
            </a:r>
            <a:r>
              <a:rPr lang="en"/>
              <a:t> themselves</a:t>
            </a:r>
            <a:endParaRPr/>
          </a:p>
          <a:p>
            <a:pPr indent="-298450" lvl="0" marL="457200" rtl="0" algn="l">
              <a:spcBef>
                <a:spcPts val="0"/>
              </a:spcBef>
              <a:spcAft>
                <a:spcPts val="0"/>
              </a:spcAft>
              <a:buSzPts val="1100"/>
              <a:buChar char="-"/>
            </a:pPr>
            <a:r>
              <a:rPr lang="en"/>
              <a:t>Caitlyn: Intro to the presentation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e8b4ff4c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e8b4ff4c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Sadie: Rexburg Population</a:t>
            </a:r>
            <a:endParaRPr/>
          </a:p>
          <a:p>
            <a:pPr indent="0" lvl="0" marL="0" rtl="0" algn="l">
              <a:spcBef>
                <a:spcPts val="0"/>
              </a:spcBef>
              <a:spcAft>
                <a:spcPts val="0"/>
              </a:spcAft>
              <a:buNone/>
            </a:pPr>
            <a:r>
              <a:rPr lang="en"/>
              <a:t>Sharlie: Stress</a:t>
            </a:r>
            <a:endParaRPr/>
          </a:p>
          <a:p>
            <a:pPr indent="-298450" lvl="0" marL="457200" rtl="0" algn="l">
              <a:spcBef>
                <a:spcPts val="0"/>
              </a:spcBef>
              <a:spcAft>
                <a:spcPts val="0"/>
              </a:spcAft>
              <a:buSzPts val="1100"/>
              <a:buChar char="-"/>
            </a:pPr>
            <a:r>
              <a:rPr lang="en"/>
              <a:t>How many of you have stress?</a:t>
            </a:r>
            <a:endParaRPr/>
          </a:p>
          <a:p>
            <a:pPr indent="-298450" lvl="0" marL="457200" rtl="0" algn="l">
              <a:spcBef>
                <a:spcPts val="0"/>
              </a:spcBef>
              <a:spcAft>
                <a:spcPts val="0"/>
              </a:spcAft>
              <a:buSzPts val="1100"/>
              <a:buChar char="-"/>
            </a:pPr>
            <a:r>
              <a:rPr lang="en"/>
              <a:t>Stress increases in the winter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d4f8c5234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d4f8c5234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Jaselyn: From the time we spent empathizing and discovering Rexburgs residents increased stress in the winter. We realized that while getting more sunlight would help with this problem, the cold weather and increased hours of sunlight make it difficult. So that led us to consider these questions</a:t>
            </a:r>
            <a:endParaRPr/>
          </a:p>
          <a:p>
            <a:pPr indent="0" lvl="0" marL="0" rtl="0" algn="l">
              <a:spcBef>
                <a:spcPts val="0"/>
              </a:spcBef>
              <a:spcAft>
                <a:spcPts val="0"/>
              </a:spcAft>
              <a:buNone/>
            </a:pPr>
            <a:r>
              <a:rPr lang="en"/>
              <a:t>Sophia: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41bda11c6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41bda11c6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Caitlyn: Start to segway from Base44</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CJ: Avatar Customization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Sharlie: Fun Facts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Jaselyn: Tracking Sunlight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Sadie: Social Community Page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Sophia: Goals/Biometrics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Caitlyn:  - Game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41bda11c6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41bda11c6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Sophia: </a:t>
            </a:r>
            <a:r>
              <a:rPr lang="en">
                <a:solidFill>
                  <a:schemeClr val="dk1"/>
                </a:solidFill>
              </a:rPr>
              <a:t>Goals/Biometrics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41bda11c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41bda11c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Jaselyn: Tracking Sunlight (Sun avatar changes as intake increases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41bda11c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41bda11c6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Sharlie: Fun Facts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41bda11c6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41bda11c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Sadie: Social Community Page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ea37762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ea37762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Caitlyn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d4f8c5234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d4f8c5234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Sadie: Interaction with Crowd</a:t>
            </a:r>
            <a:endParaRPr/>
          </a:p>
          <a:p>
            <a:pPr indent="0" lvl="0" marL="0" rtl="0" algn="l">
              <a:spcBef>
                <a:spcPts val="0"/>
              </a:spcBef>
              <a:spcAft>
                <a:spcPts val="0"/>
              </a:spcAft>
              <a:buNone/>
            </a:pPr>
            <a:r>
              <a:rPr lang="en"/>
              <a:t>CJ: Operating Sun Buddy Customization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41bda11c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41bda11c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CJ: </a:t>
            </a:r>
            <a:r>
              <a:rPr lang="en">
                <a:solidFill>
                  <a:schemeClr val="dk1"/>
                </a:solidFill>
              </a:rPr>
              <a:t>Avatar Customization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5f7fef9d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5f7fef9d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d4f8c5234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d4f8c5234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Sharlie:</a:t>
            </a:r>
            <a:endParaRPr/>
          </a:p>
          <a:p>
            <a:pPr indent="0" lvl="0" marL="0" rtl="0" algn="l">
              <a:spcBef>
                <a:spcPts val="0"/>
              </a:spcBef>
              <a:spcAft>
                <a:spcPts val="0"/>
              </a:spcAft>
              <a:buNone/>
            </a:pPr>
            <a:r>
              <a:rPr lang="en"/>
              <a:t>CJ: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d4f8c5234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d4f8c5234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Sophia: API Call </a:t>
            </a:r>
            <a:endParaRPr/>
          </a:p>
          <a:p>
            <a:pPr indent="0" lvl="0" marL="0" rtl="0" algn="l">
              <a:spcBef>
                <a:spcPts val="0"/>
              </a:spcBef>
              <a:spcAft>
                <a:spcPts val="0"/>
              </a:spcAft>
              <a:buNone/>
            </a:pPr>
            <a:r>
              <a:rPr lang="en"/>
              <a:t>Caitlyn: Greater Development Plan &gt; Segway to Conclusion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d4f8c5234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d4f8c5234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Jaselyn: Summary and Segway to Q&amp;A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3.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hyperlink" Target="http://drive.google.com/file/d/1QkPRHbi1xRliLYizIZVNl2N23MkonY0Q/view" TargetMode="External"/><Relationship Id="rId5"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sun-buddy-tracker.base44.app/Home" TargetMode="Externa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jpg"/><Relationship Id="rId4" Type="http://schemas.openxmlformats.org/officeDocument/2006/relationships/image" Target="../media/image15.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Sun Buddy </a:t>
            </a:r>
            <a:r>
              <a:rPr lang="en" sz="3600">
                <a:solidFill>
                  <a:srgbClr val="CC0000"/>
                </a:solidFill>
              </a:rPr>
              <a:t>(~1)</a:t>
            </a:r>
            <a:r>
              <a:rPr lang="en"/>
              <a:t> </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fontScale="70000"/>
          </a:bodyPr>
          <a:lstStyle/>
          <a:p>
            <a:pPr indent="0" lvl="0" marL="0" rtl="0" algn="ctr">
              <a:spcBef>
                <a:spcPts val="0"/>
              </a:spcBef>
              <a:spcAft>
                <a:spcPts val="0"/>
              </a:spcAft>
              <a:buNone/>
            </a:pPr>
            <a:r>
              <a:rPr lang="en"/>
              <a:t>By: CJ Jorgenson, Jaselyn Walker, </a:t>
            </a:r>
            <a:r>
              <a:rPr lang="en"/>
              <a:t>Caitlyn Irwin, </a:t>
            </a:r>
            <a:r>
              <a:rPr lang="en"/>
              <a:t>Sadie Angell, Sharlie Jones, and Sophia Beebe</a:t>
            </a:r>
            <a:endParaRPr/>
          </a:p>
        </p:txBody>
      </p:sp>
      <p:pic>
        <p:nvPicPr>
          <p:cNvPr id="68" name="Google Shape;68;p13" title="1863871873370348568.GIF"/>
          <p:cNvPicPr preferRelativeResize="0"/>
          <p:nvPr/>
        </p:nvPicPr>
        <p:blipFill>
          <a:blip r:embed="rId3">
            <a:alphaModFix/>
          </a:blip>
          <a:stretch>
            <a:fillRect/>
          </a:stretch>
        </p:blipFill>
        <p:spPr>
          <a:xfrm>
            <a:off x="640550" y="619650"/>
            <a:ext cx="2383648" cy="2949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Rexburg</a:t>
            </a:r>
            <a:endParaRPr/>
          </a:p>
        </p:txBody>
      </p:sp>
      <p:pic>
        <p:nvPicPr>
          <p:cNvPr id="74" name="Google Shape;74;p14"/>
          <p:cNvPicPr preferRelativeResize="0"/>
          <p:nvPr/>
        </p:nvPicPr>
        <p:blipFill>
          <a:blip r:embed="rId3">
            <a:alphaModFix/>
          </a:blip>
          <a:stretch>
            <a:fillRect/>
          </a:stretch>
        </p:blipFill>
        <p:spPr>
          <a:xfrm>
            <a:off x="152400" y="1304825"/>
            <a:ext cx="5374884" cy="3686275"/>
          </a:xfrm>
          <a:prstGeom prst="rect">
            <a:avLst/>
          </a:prstGeom>
          <a:noFill/>
          <a:ln>
            <a:noFill/>
          </a:ln>
        </p:spPr>
      </p:pic>
      <p:pic>
        <p:nvPicPr>
          <p:cNvPr id="75" name="Google Shape;75;p14"/>
          <p:cNvPicPr preferRelativeResize="0"/>
          <p:nvPr/>
        </p:nvPicPr>
        <p:blipFill>
          <a:blip r:embed="rId4">
            <a:alphaModFix/>
          </a:blip>
          <a:stretch>
            <a:fillRect/>
          </a:stretch>
        </p:blipFill>
        <p:spPr>
          <a:xfrm>
            <a:off x="5579409" y="709350"/>
            <a:ext cx="3311916" cy="1862388"/>
          </a:xfrm>
          <a:prstGeom prst="rect">
            <a:avLst/>
          </a:prstGeom>
          <a:noFill/>
          <a:ln>
            <a:noFill/>
          </a:ln>
        </p:spPr>
      </p:pic>
      <p:pic>
        <p:nvPicPr>
          <p:cNvPr id="76" name="Google Shape;76;p14"/>
          <p:cNvPicPr preferRelativeResize="0"/>
          <p:nvPr/>
        </p:nvPicPr>
        <p:blipFill>
          <a:blip r:embed="rId5">
            <a:alphaModFix/>
          </a:blip>
          <a:stretch>
            <a:fillRect/>
          </a:stretch>
        </p:blipFill>
        <p:spPr>
          <a:xfrm>
            <a:off x="5711375" y="2706050"/>
            <a:ext cx="3047976" cy="2285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Development </a:t>
            </a:r>
            <a:r>
              <a:rPr lang="en">
                <a:solidFill>
                  <a:schemeClr val="accent3"/>
                </a:solidFill>
              </a:rPr>
              <a:t>(Ideate)</a:t>
            </a:r>
            <a:r>
              <a:rPr lang="en">
                <a:solidFill>
                  <a:schemeClr val="accent3"/>
                </a:solidFill>
              </a:rPr>
              <a:t> </a:t>
            </a:r>
            <a:endParaRPr>
              <a:solidFill>
                <a:schemeClr val="accent3"/>
              </a:solidFill>
            </a:endParaRPr>
          </a:p>
        </p:txBody>
      </p:sp>
      <p:sp>
        <p:nvSpPr>
          <p:cNvPr id="82" name="Google Shape;82;p15"/>
          <p:cNvSpPr txBox="1"/>
          <p:nvPr>
            <p:ph idx="1" type="body"/>
          </p:nvPr>
        </p:nvSpPr>
        <p:spPr>
          <a:xfrm>
            <a:off x="311700" y="1152425"/>
            <a:ext cx="7161900" cy="33027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Char char="●"/>
            </a:pPr>
            <a:r>
              <a:rPr lang="en" sz="1700">
                <a:solidFill>
                  <a:srgbClr val="000000"/>
                </a:solidFill>
              </a:rPr>
              <a:t>How can we help Rexburg community members to get enough sunlight despite the cold weather and shortened daylight of winter?</a:t>
            </a:r>
            <a:endParaRPr sz="1700">
              <a:solidFill>
                <a:srgbClr val="000000"/>
              </a:solidFill>
            </a:endParaRPr>
          </a:p>
          <a:p>
            <a:pPr indent="0" lvl="0" marL="914400" rtl="0" algn="l">
              <a:spcBef>
                <a:spcPts val="1200"/>
              </a:spcBef>
              <a:spcAft>
                <a:spcPts val="0"/>
              </a:spcAft>
              <a:buNone/>
            </a:pPr>
            <a:r>
              <a:t/>
            </a:r>
            <a:endParaRPr sz="1700">
              <a:solidFill>
                <a:srgbClr val="000000"/>
              </a:solidFill>
            </a:endParaRPr>
          </a:p>
          <a:p>
            <a:pPr indent="-336550" lvl="0" marL="457200" rtl="0" algn="l">
              <a:spcBef>
                <a:spcPts val="1200"/>
              </a:spcBef>
              <a:spcAft>
                <a:spcPts val="0"/>
              </a:spcAft>
              <a:buClr>
                <a:srgbClr val="000000"/>
              </a:buClr>
              <a:buSzPts val="1700"/>
              <a:buChar char="●"/>
            </a:pPr>
            <a:r>
              <a:rPr lang="en" sz="1700">
                <a:solidFill>
                  <a:srgbClr val="000000"/>
                </a:solidFill>
              </a:rPr>
              <a:t>How can we creatively use the emerging opportunities AI offers?</a:t>
            </a:r>
            <a:endParaRPr sz="1700">
              <a:solidFill>
                <a:srgbClr val="000000"/>
              </a:solidFill>
            </a:endParaRPr>
          </a:p>
          <a:p>
            <a:pPr indent="0" lvl="0" marL="457200" rtl="0" algn="l">
              <a:spcBef>
                <a:spcPts val="1200"/>
              </a:spcBef>
              <a:spcAft>
                <a:spcPts val="1200"/>
              </a:spcAft>
              <a:buNone/>
            </a:pPr>
            <a:r>
              <a:t/>
            </a:r>
            <a:endParaRPr sz="1100">
              <a:solidFill>
                <a:srgbClr val="000000"/>
              </a:solidFill>
            </a:endParaRPr>
          </a:p>
        </p:txBody>
      </p:sp>
      <p:pic>
        <p:nvPicPr>
          <p:cNvPr id="83" name="Google Shape;83;p15"/>
          <p:cNvPicPr preferRelativeResize="0"/>
          <p:nvPr/>
        </p:nvPicPr>
        <p:blipFill>
          <a:blip r:embed="rId3">
            <a:alphaModFix/>
          </a:blip>
          <a:stretch>
            <a:fillRect/>
          </a:stretch>
        </p:blipFill>
        <p:spPr>
          <a:xfrm>
            <a:off x="7237875" y="0"/>
            <a:ext cx="1906024" cy="2382526"/>
          </a:xfrm>
          <a:prstGeom prst="rect">
            <a:avLst/>
          </a:prstGeom>
          <a:noFill/>
          <a:ln>
            <a:noFill/>
          </a:ln>
        </p:spPr>
      </p:pic>
      <p:pic>
        <p:nvPicPr>
          <p:cNvPr id="84" name="Google Shape;84;p15"/>
          <p:cNvPicPr preferRelativeResize="0"/>
          <p:nvPr/>
        </p:nvPicPr>
        <p:blipFill>
          <a:blip r:embed="rId4">
            <a:alphaModFix/>
          </a:blip>
          <a:stretch>
            <a:fillRect/>
          </a:stretch>
        </p:blipFill>
        <p:spPr>
          <a:xfrm>
            <a:off x="3228350" y="3104800"/>
            <a:ext cx="3058050" cy="20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0" name="Google Shape;90;p16" title="Sun Buddy Watch MockUp.jpg"/>
          <p:cNvPicPr preferRelativeResize="0"/>
          <p:nvPr/>
        </p:nvPicPr>
        <p:blipFill>
          <a:blip r:embed="rId3">
            <a:alphaModFix/>
          </a:blip>
          <a:stretch>
            <a:fillRect/>
          </a:stretch>
        </p:blipFill>
        <p:spPr>
          <a:xfrm>
            <a:off x="4088600" y="0"/>
            <a:ext cx="5055398" cy="5055398"/>
          </a:xfrm>
          <a:prstGeom prst="rect">
            <a:avLst/>
          </a:prstGeom>
          <a:noFill/>
          <a:ln>
            <a:noFill/>
          </a:ln>
        </p:spPr>
      </p:pic>
      <p:pic>
        <p:nvPicPr>
          <p:cNvPr id="91" name="Google Shape;91;p16" title="adobe-express-qr-code.png"/>
          <p:cNvPicPr preferRelativeResize="0"/>
          <p:nvPr/>
        </p:nvPicPr>
        <p:blipFill>
          <a:blip r:embed="rId4">
            <a:alphaModFix/>
          </a:blip>
          <a:stretch>
            <a:fillRect/>
          </a:stretch>
        </p:blipFill>
        <p:spPr>
          <a:xfrm>
            <a:off x="311700" y="762589"/>
            <a:ext cx="3530200" cy="3530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Goal Creation:</a:t>
            </a:r>
            <a:endParaRPr/>
          </a:p>
        </p:txBody>
      </p:sp>
      <p:sp>
        <p:nvSpPr>
          <p:cNvPr id="97" name="Google Shape;97;p1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sp>
        <p:nvSpPr>
          <p:cNvPr id="98" name="Google Shape;98;p17"/>
          <p:cNvSpPr txBox="1"/>
          <p:nvPr/>
        </p:nvSpPr>
        <p:spPr>
          <a:xfrm>
            <a:off x="4572000" y="7625"/>
            <a:ext cx="4572000" cy="5143500"/>
          </a:xfrm>
          <a:prstGeom prst="rect">
            <a:avLst/>
          </a:prstGeom>
          <a:solidFill>
            <a:srgbClr val="DDE39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pic>
        <p:nvPicPr>
          <p:cNvPr id="99" name="Google Shape;99;p17"/>
          <p:cNvPicPr preferRelativeResize="0"/>
          <p:nvPr/>
        </p:nvPicPr>
        <p:blipFill rotWithShape="1">
          <a:blip r:embed="rId3">
            <a:alphaModFix/>
          </a:blip>
          <a:srcRect b="10165" l="0" r="0" t="13052"/>
          <a:stretch/>
        </p:blipFill>
        <p:spPr>
          <a:xfrm>
            <a:off x="5544617" y="266850"/>
            <a:ext cx="2769459" cy="4609797"/>
          </a:xfrm>
          <a:prstGeom prst="rect">
            <a:avLst/>
          </a:prstGeom>
          <a:noFill/>
          <a:ln>
            <a:noFill/>
          </a:ln>
        </p:spPr>
      </p:pic>
      <p:sp>
        <p:nvSpPr>
          <p:cNvPr id="100" name="Google Shape;100;p17"/>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D2CA"/>
        </a:solidFill>
      </p:bgPr>
    </p:bg>
    <p:spTree>
      <p:nvGrpSpPr>
        <p:cNvPr id="104" name="Shape 104"/>
        <p:cNvGrpSpPr/>
        <p:nvPr/>
      </p:nvGrpSpPr>
      <p:grpSpPr>
        <a:xfrm>
          <a:off x="0" y="0"/>
          <a:ext cx="0" cy="0"/>
          <a:chOff x="0" y="0"/>
          <a:chExt cx="0" cy="0"/>
        </a:xfrm>
      </p:grpSpPr>
      <p:sp>
        <p:nvSpPr>
          <p:cNvPr id="105" name="Google Shape;105;p18"/>
          <p:cNvSpPr txBox="1"/>
          <p:nvPr>
            <p:ph type="title"/>
          </p:nvPr>
        </p:nvSpPr>
        <p:spPr>
          <a:xfrm>
            <a:off x="445288" y="22180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Tracking Sunlight</a:t>
            </a:r>
            <a:endParaRPr/>
          </a:p>
          <a:p>
            <a:pPr indent="0" lvl="0" marL="0" rtl="0" algn="l">
              <a:spcBef>
                <a:spcPts val="0"/>
              </a:spcBef>
              <a:spcAft>
                <a:spcPts val="0"/>
              </a:spcAft>
              <a:buNone/>
            </a:pPr>
            <a:r>
              <a:rPr lang="en"/>
              <a:t>        Intake:</a:t>
            </a:r>
            <a:endParaRPr/>
          </a:p>
        </p:txBody>
      </p:sp>
      <p:pic>
        <p:nvPicPr>
          <p:cNvPr id="106" name="Google Shape;106;p18"/>
          <p:cNvPicPr preferRelativeResize="0"/>
          <p:nvPr/>
        </p:nvPicPr>
        <p:blipFill>
          <a:blip r:embed="rId3">
            <a:alphaModFix/>
          </a:blip>
          <a:stretch>
            <a:fillRect/>
          </a:stretch>
        </p:blipFill>
        <p:spPr>
          <a:xfrm>
            <a:off x="6332126" y="207006"/>
            <a:ext cx="2181574" cy="4729482"/>
          </a:xfrm>
          <a:prstGeom prst="rect">
            <a:avLst/>
          </a:prstGeom>
          <a:noFill/>
          <a:ln>
            <a:noFill/>
          </a:ln>
        </p:spPr>
      </p:pic>
      <p:pic>
        <p:nvPicPr>
          <p:cNvPr id="107" name="Google Shape;107;p18"/>
          <p:cNvPicPr preferRelativeResize="0"/>
          <p:nvPr/>
        </p:nvPicPr>
        <p:blipFill>
          <a:blip r:embed="rId4">
            <a:alphaModFix/>
          </a:blip>
          <a:stretch>
            <a:fillRect/>
          </a:stretch>
        </p:blipFill>
        <p:spPr>
          <a:xfrm>
            <a:off x="3614799" y="207013"/>
            <a:ext cx="2181574" cy="4729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 Facts (</a:t>
            </a:r>
            <a:r>
              <a:rPr lang="en"/>
              <a:t>Daily Sun Tip</a:t>
            </a:r>
            <a:r>
              <a:rPr lang="en"/>
              <a:t>)</a:t>
            </a:r>
            <a:endParaRPr/>
          </a:p>
          <a:p>
            <a:pPr indent="0" lvl="0" marL="0" rtl="0" algn="l">
              <a:spcBef>
                <a:spcPts val="0"/>
              </a:spcBef>
              <a:spcAft>
                <a:spcPts val="0"/>
              </a:spcAft>
              <a:buNone/>
            </a:pPr>
            <a:r>
              <a:t/>
            </a:r>
            <a:endParaRPr/>
          </a:p>
        </p:txBody>
      </p:sp>
      <p:pic>
        <p:nvPicPr>
          <p:cNvPr id="113" name="Google Shape;113;p19" title="Screenshot 2025-12-08 200204.png"/>
          <p:cNvPicPr preferRelativeResize="0"/>
          <p:nvPr/>
        </p:nvPicPr>
        <p:blipFill>
          <a:blip r:embed="rId3">
            <a:alphaModFix/>
          </a:blip>
          <a:stretch>
            <a:fillRect/>
          </a:stretch>
        </p:blipFill>
        <p:spPr>
          <a:xfrm>
            <a:off x="2573438" y="1228725"/>
            <a:ext cx="5084517" cy="3686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Social Networking</a:t>
            </a:r>
            <a:endParaRPr/>
          </a:p>
          <a:p>
            <a:pPr indent="0" lvl="0" marL="0" rtl="0" algn="l">
              <a:spcBef>
                <a:spcPts val="0"/>
              </a:spcBef>
              <a:spcAft>
                <a:spcPts val="0"/>
              </a:spcAft>
              <a:buNone/>
            </a:pPr>
            <a:r>
              <a:t/>
            </a:r>
            <a:endParaRPr/>
          </a:p>
        </p:txBody>
      </p:sp>
      <p:sp>
        <p:nvSpPr>
          <p:cNvPr id="119" name="Google Shape;119;p2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 name="Google Shape;120;p20"/>
          <p:cNvPicPr preferRelativeResize="0"/>
          <p:nvPr/>
        </p:nvPicPr>
        <p:blipFill rotWithShape="1">
          <a:blip r:embed="rId3">
            <a:alphaModFix/>
          </a:blip>
          <a:srcRect b="8692" l="0" r="0" t="0"/>
          <a:stretch/>
        </p:blipFill>
        <p:spPr>
          <a:xfrm>
            <a:off x="0" y="3643300"/>
            <a:ext cx="2897217" cy="1500200"/>
          </a:xfrm>
          <a:prstGeom prst="rect">
            <a:avLst/>
          </a:prstGeom>
          <a:noFill/>
          <a:ln>
            <a:noFill/>
          </a:ln>
        </p:spPr>
      </p:pic>
      <p:pic>
        <p:nvPicPr>
          <p:cNvPr id="121" name="Google Shape;121;p20"/>
          <p:cNvPicPr preferRelativeResize="0"/>
          <p:nvPr/>
        </p:nvPicPr>
        <p:blipFill>
          <a:blip r:embed="rId4">
            <a:alphaModFix/>
          </a:blip>
          <a:stretch>
            <a:fillRect/>
          </a:stretch>
        </p:blipFill>
        <p:spPr>
          <a:xfrm>
            <a:off x="1685550" y="1050775"/>
            <a:ext cx="3895875" cy="2592525"/>
          </a:xfrm>
          <a:prstGeom prst="rect">
            <a:avLst/>
          </a:prstGeom>
          <a:noFill/>
          <a:ln>
            <a:noFill/>
          </a:ln>
        </p:spPr>
      </p:pic>
      <p:pic>
        <p:nvPicPr>
          <p:cNvPr id="122" name="Google Shape;122;p20"/>
          <p:cNvPicPr preferRelativeResize="0"/>
          <p:nvPr/>
        </p:nvPicPr>
        <p:blipFill>
          <a:blip r:embed="rId5">
            <a:alphaModFix/>
          </a:blip>
          <a:stretch>
            <a:fillRect/>
          </a:stretch>
        </p:blipFill>
        <p:spPr>
          <a:xfrm>
            <a:off x="5946150" y="33825"/>
            <a:ext cx="2254249" cy="50758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Interactive Gameplay</a:t>
            </a:r>
            <a:endParaRPr/>
          </a:p>
          <a:p>
            <a:pPr indent="0" lvl="0" marL="0" rtl="0" algn="l">
              <a:spcBef>
                <a:spcPts val="0"/>
              </a:spcBef>
              <a:spcAft>
                <a:spcPts val="0"/>
              </a:spcAft>
              <a:buNone/>
            </a:pPr>
            <a:r>
              <a:t/>
            </a:r>
            <a:endParaRPr/>
          </a:p>
        </p:txBody>
      </p:sp>
      <p:pic>
        <p:nvPicPr>
          <p:cNvPr id="128" name="Google Shape;128;p21" title="Watch and Phone Game Mockup.jpg"/>
          <p:cNvPicPr preferRelativeResize="0"/>
          <p:nvPr/>
        </p:nvPicPr>
        <p:blipFill>
          <a:blip r:embed="rId3">
            <a:alphaModFix/>
          </a:blip>
          <a:stretch>
            <a:fillRect/>
          </a:stretch>
        </p:blipFill>
        <p:spPr>
          <a:xfrm>
            <a:off x="3883050" y="1128425"/>
            <a:ext cx="4879350" cy="3578500"/>
          </a:xfrm>
          <a:prstGeom prst="rect">
            <a:avLst/>
          </a:prstGeom>
          <a:noFill/>
          <a:ln>
            <a:noFill/>
          </a:ln>
        </p:spPr>
      </p:pic>
      <p:pic>
        <p:nvPicPr>
          <p:cNvPr id="129" name="Google Shape;129;p21" title="ScreenRecording_12-09-2025 00-40-05_1.mov">
            <a:hlinkClick r:id="rId4"/>
          </p:cNvPr>
          <p:cNvPicPr preferRelativeResize="0"/>
          <p:nvPr/>
        </p:nvPicPr>
        <p:blipFill>
          <a:blip r:embed="rId5">
            <a:alphaModFix/>
          </a:blip>
          <a:stretch>
            <a:fillRect/>
          </a:stretch>
        </p:blipFill>
        <p:spPr>
          <a:xfrm>
            <a:off x="854850" y="1128425"/>
            <a:ext cx="2332900" cy="3578501"/>
          </a:xfrm>
          <a:prstGeom prst="rect">
            <a:avLst/>
          </a:prstGeom>
          <a:noFill/>
          <a:ln>
            <a:noFill/>
          </a:ln>
        </p:spPr>
      </p:pic>
      <p:sp>
        <p:nvSpPr>
          <p:cNvPr id="130" name="Google Shape;130;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3"/>
                </a:solidFill>
              </a:rPr>
              <a:t>Customized Sun Buddies!!! </a:t>
            </a:r>
            <a:r>
              <a:rPr lang="en">
                <a:solidFill>
                  <a:srgbClr val="CC0000"/>
                </a:solidFill>
              </a:rPr>
              <a:t>(~5)</a:t>
            </a:r>
            <a:endParaRPr>
              <a:solidFill>
                <a:srgbClr val="CC0000"/>
              </a:solidFill>
            </a:endParaRPr>
          </a:p>
        </p:txBody>
      </p:sp>
      <p:sp>
        <p:nvSpPr>
          <p:cNvPr id="136" name="Google Shape;136;p2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1200"/>
              </a:spcAft>
              <a:buNone/>
            </a:pPr>
            <a:r>
              <a:rPr lang="en" u="sng">
                <a:solidFill>
                  <a:schemeClr val="hlink"/>
                </a:solidFill>
                <a:hlinkClick r:id="rId3"/>
              </a:rPr>
              <a:t>https://sun-buddy-tracker.base44.app/Home</a:t>
            </a:r>
            <a:r>
              <a:rPr lang="en">
                <a:solidFill>
                  <a:srgbClr val="000000"/>
                </a:solidFill>
              </a:rPr>
              <a:t> </a:t>
            </a:r>
            <a:endParaRPr>
              <a:solidFill>
                <a:srgbClr val="000000"/>
              </a:solidFill>
            </a:endParaRPr>
          </a:p>
        </p:txBody>
      </p:sp>
      <p:pic>
        <p:nvPicPr>
          <p:cNvPr id="137" name="Google Shape;137;p22" title="adobe-express-qr-code.png"/>
          <p:cNvPicPr preferRelativeResize="0"/>
          <p:nvPr/>
        </p:nvPicPr>
        <p:blipFill>
          <a:blip r:embed="rId4">
            <a:alphaModFix/>
          </a:blip>
          <a:stretch>
            <a:fillRect/>
          </a:stretch>
        </p:blipFill>
        <p:spPr>
          <a:xfrm>
            <a:off x="5383750" y="1152551"/>
            <a:ext cx="3530200" cy="3530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Refined </a:t>
            </a:r>
            <a:r>
              <a:rPr lang="en"/>
              <a:t>Avatar (Sun Buddy)</a:t>
            </a:r>
            <a:endParaRPr/>
          </a:p>
        </p:txBody>
      </p:sp>
      <p:sp>
        <p:nvSpPr>
          <p:cNvPr id="143" name="Google Shape;143;p23"/>
          <p:cNvSpPr txBox="1"/>
          <p:nvPr>
            <p:ph idx="1" type="body"/>
          </p:nvPr>
        </p:nvSpPr>
        <p:spPr>
          <a:xfrm>
            <a:off x="169125" y="1441863"/>
            <a:ext cx="3060900" cy="3221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Meet Sola and Sol!</a:t>
            </a:r>
            <a:endParaRPr/>
          </a:p>
          <a:p>
            <a:pPr indent="-342900" lvl="0" marL="457200" rtl="0" algn="l">
              <a:spcBef>
                <a:spcPts val="0"/>
              </a:spcBef>
              <a:spcAft>
                <a:spcPts val="0"/>
              </a:spcAft>
              <a:buSzPts val="1800"/>
              <a:buChar char="-"/>
            </a:pPr>
            <a:r>
              <a:rPr lang="en"/>
              <a:t>Why Sol and Sola?</a:t>
            </a:r>
            <a:endParaRPr/>
          </a:p>
        </p:txBody>
      </p:sp>
      <p:pic>
        <p:nvPicPr>
          <p:cNvPr id="144" name="Google Shape;144;p23"/>
          <p:cNvPicPr preferRelativeResize="0"/>
          <p:nvPr/>
        </p:nvPicPr>
        <p:blipFill>
          <a:blip r:embed="rId3">
            <a:alphaModFix/>
          </a:blip>
          <a:stretch>
            <a:fillRect/>
          </a:stretch>
        </p:blipFill>
        <p:spPr>
          <a:xfrm>
            <a:off x="5279585" y="0"/>
            <a:ext cx="2372531" cy="51435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a:t>
            </a:r>
            <a:endParaRPr/>
          </a:p>
        </p:txBody>
      </p:sp>
      <p:pic>
        <p:nvPicPr>
          <p:cNvPr descr="Forms response chart. Question title: Does this app look appealing to use? . Number of responses: 21 responses." id="150" name="Google Shape;150;p24" title="Does this app look appealing to use? "/>
          <p:cNvPicPr preferRelativeResize="0"/>
          <p:nvPr/>
        </p:nvPicPr>
        <p:blipFill>
          <a:blip r:embed="rId3">
            <a:alphaModFix/>
          </a:blip>
          <a:stretch>
            <a:fillRect/>
          </a:stretch>
        </p:blipFill>
        <p:spPr>
          <a:xfrm>
            <a:off x="3143050" y="280650"/>
            <a:ext cx="5810826" cy="2445774"/>
          </a:xfrm>
          <a:prstGeom prst="rect">
            <a:avLst/>
          </a:prstGeom>
          <a:noFill/>
          <a:ln>
            <a:noFill/>
          </a:ln>
        </p:spPr>
      </p:pic>
      <p:pic>
        <p:nvPicPr>
          <p:cNvPr descr="Forms response chart. Question title: Would you consider using an app like this? . Number of responses: 21 responses." id="151" name="Google Shape;151;p24" title="Would you consider using an app like this? "/>
          <p:cNvPicPr preferRelativeResize="0"/>
          <p:nvPr/>
        </p:nvPicPr>
        <p:blipFill>
          <a:blip r:embed="rId4">
            <a:alphaModFix/>
          </a:blip>
          <a:stretch>
            <a:fillRect/>
          </a:stretch>
        </p:blipFill>
        <p:spPr>
          <a:xfrm>
            <a:off x="61425" y="2507350"/>
            <a:ext cx="5542948" cy="2636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Confirmed Data</a:t>
            </a:r>
            <a:endParaRPr>
              <a:solidFill>
                <a:srgbClr val="CC0000"/>
              </a:solidFill>
            </a:endParaRPr>
          </a:p>
        </p:txBody>
      </p:sp>
      <p:sp>
        <p:nvSpPr>
          <p:cNvPr id="157" name="Google Shape;157;p25"/>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Pros:</a:t>
            </a:r>
            <a:endParaRPr>
              <a:solidFill>
                <a:srgbClr val="000000"/>
              </a:solidFill>
            </a:endParaRPr>
          </a:p>
          <a:p>
            <a:pPr indent="-317500" lvl="0" marL="457200" rtl="0" algn="l">
              <a:spcBef>
                <a:spcPts val="1200"/>
              </a:spcBef>
              <a:spcAft>
                <a:spcPts val="0"/>
              </a:spcAft>
              <a:buClr>
                <a:srgbClr val="000000"/>
              </a:buClr>
              <a:buSzPts val="1400"/>
              <a:buChar char="-"/>
            </a:pPr>
            <a:r>
              <a:rPr lang="en">
                <a:solidFill>
                  <a:srgbClr val="000000"/>
                </a:solidFill>
              </a:rPr>
              <a:t>“It looks simple, can be used with friends and it has a health purpose.”</a:t>
            </a:r>
            <a:endParaRPr>
              <a:solidFill>
                <a:srgbClr val="000000"/>
              </a:solidFill>
            </a:endParaRPr>
          </a:p>
          <a:p>
            <a:pPr indent="-317500" lvl="0" marL="457200" rtl="0" algn="l">
              <a:spcBef>
                <a:spcPts val="0"/>
              </a:spcBef>
              <a:spcAft>
                <a:spcPts val="0"/>
              </a:spcAft>
              <a:buClr>
                <a:srgbClr val="000000"/>
              </a:buClr>
              <a:buSzPts val="1400"/>
              <a:buChar char="-"/>
            </a:pPr>
            <a:r>
              <a:rPr lang="en">
                <a:solidFill>
                  <a:srgbClr val="000000"/>
                </a:solidFill>
              </a:rPr>
              <a:t>“Cute, and appealing to look at, had information about benefits to sunlight, I thought that was a good idea.”</a:t>
            </a:r>
            <a:endParaRPr>
              <a:solidFill>
                <a:srgbClr val="000000"/>
              </a:solidFill>
            </a:endParaRPr>
          </a:p>
          <a:p>
            <a:pPr indent="-317500" lvl="0" marL="457200" rtl="0" algn="l">
              <a:spcBef>
                <a:spcPts val="0"/>
              </a:spcBef>
              <a:spcAft>
                <a:spcPts val="0"/>
              </a:spcAft>
              <a:buClr>
                <a:srgbClr val="000000"/>
              </a:buClr>
              <a:buSzPts val="1400"/>
              <a:buChar char="-"/>
            </a:pPr>
            <a:r>
              <a:rPr lang="en">
                <a:solidFill>
                  <a:srgbClr val="000000"/>
                </a:solidFill>
              </a:rPr>
              <a:t>“Community portion is awesome, I like the opportunities to get sunshine together.”</a:t>
            </a:r>
            <a:endParaRPr>
              <a:solidFill>
                <a:srgbClr val="000000"/>
              </a:solidFill>
            </a:endParaRPr>
          </a:p>
        </p:txBody>
      </p:sp>
      <p:sp>
        <p:nvSpPr>
          <p:cNvPr id="158" name="Google Shape;158;p2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rgbClr val="000000"/>
                </a:solidFill>
              </a:rPr>
              <a:t>Cons:</a:t>
            </a:r>
            <a:endParaRPr>
              <a:solidFill>
                <a:srgbClr val="000000"/>
              </a:solidFill>
            </a:endParaRPr>
          </a:p>
          <a:p>
            <a:pPr indent="-317500" lvl="0" marL="457200" rtl="0" algn="l">
              <a:spcBef>
                <a:spcPts val="1200"/>
              </a:spcBef>
              <a:spcAft>
                <a:spcPts val="0"/>
              </a:spcAft>
              <a:buClr>
                <a:srgbClr val="000000"/>
              </a:buClr>
              <a:buSzPts val="1400"/>
              <a:buChar char="-"/>
            </a:pPr>
            <a:r>
              <a:rPr lang="en">
                <a:solidFill>
                  <a:srgbClr val="000000"/>
                </a:solidFill>
              </a:rPr>
              <a:t>“</a:t>
            </a:r>
            <a:r>
              <a:rPr lang="en">
                <a:solidFill>
                  <a:srgbClr val="000000"/>
                </a:solidFill>
              </a:rPr>
              <a:t>I don’t know how much of this I can correlate to my health and it may not be considered something important for most people.”</a:t>
            </a:r>
            <a:endParaRPr>
              <a:solidFill>
                <a:srgbClr val="000000"/>
              </a:solidFill>
            </a:endParaRPr>
          </a:p>
          <a:p>
            <a:pPr indent="-317500" lvl="0" marL="457200" rtl="0" algn="l">
              <a:spcBef>
                <a:spcPts val="0"/>
              </a:spcBef>
              <a:spcAft>
                <a:spcPts val="0"/>
              </a:spcAft>
              <a:buClr>
                <a:srgbClr val="000000"/>
              </a:buClr>
              <a:buSzPts val="1400"/>
              <a:buChar char="-"/>
            </a:pPr>
            <a:r>
              <a:rPr lang="en">
                <a:solidFill>
                  <a:srgbClr val="000000"/>
                </a:solidFill>
              </a:rPr>
              <a:t>“...Can you set the app to your specific location? So it’s relevant to sun exposure? (For example, if you live in Alaska, that sun exposure will look different than Arizona)”</a:t>
            </a:r>
            <a:endParaRPr>
              <a:solidFill>
                <a:srgbClr val="000000"/>
              </a:solidFill>
            </a:endParaRPr>
          </a:p>
          <a:p>
            <a:pPr indent="-317500" lvl="0" marL="457200" rtl="0" algn="l">
              <a:spcBef>
                <a:spcPts val="0"/>
              </a:spcBef>
              <a:spcAft>
                <a:spcPts val="0"/>
              </a:spcAft>
              <a:buClr>
                <a:srgbClr val="000000"/>
              </a:buClr>
              <a:buSzPts val="1400"/>
              <a:buChar char="-"/>
            </a:pPr>
            <a:r>
              <a:rPr lang="en">
                <a:solidFill>
                  <a:srgbClr val="000000"/>
                </a:solidFill>
              </a:rPr>
              <a:t>“Doesn't have a strong incentive to hit the goal everyday. The app also can't tell if you were actually outside.”</a:t>
            </a:r>
            <a:endParaRPr>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Moving Forward </a:t>
            </a:r>
            <a:r>
              <a:rPr lang="en">
                <a:solidFill>
                  <a:srgbClr val="CC0000"/>
                </a:solidFill>
              </a:rPr>
              <a:t>(~1)</a:t>
            </a:r>
            <a:endParaRPr>
              <a:solidFill>
                <a:srgbClr val="CC0000"/>
              </a:solidFill>
            </a:endParaRPr>
          </a:p>
        </p:txBody>
      </p:sp>
      <p:sp>
        <p:nvSpPr>
          <p:cNvPr id="164" name="Google Shape;164;p2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Char char="-"/>
            </a:pPr>
            <a:r>
              <a:rPr lang="en" sz="1100">
                <a:solidFill>
                  <a:srgbClr val="000000"/>
                </a:solidFill>
              </a:rPr>
              <a:t>A</a:t>
            </a:r>
            <a:r>
              <a:rPr lang="en" sz="1100">
                <a:solidFill>
                  <a:srgbClr val="000000"/>
                </a:solidFill>
              </a:rPr>
              <a:t>dvertisement</a:t>
            </a:r>
            <a:r>
              <a:rPr lang="en" sz="1100">
                <a:solidFill>
                  <a:srgbClr val="000000"/>
                </a:solidFill>
              </a:rPr>
              <a:t> to make this a fully functioning app (pay people)</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Greater development of features</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Connect with Apple watch (API call)</a:t>
            </a:r>
            <a:endParaRPr sz="11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spcBef>
                <a:spcPts val="1200"/>
              </a:spcBef>
              <a:spcAft>
                <a:spcPts val="1200"/>
              </a:spcAft>
              <a:buNone/>
            </a:pPr>
            <a:r>
              <a:t/>
            </a:r>
            <a:endParaRPr sz="2100"/>
          </a:p>
        </p:txBody>
      </p:sp>
      <p:pic>
        <p:nvPicPr>
          <p:cNvPr id="165" name="Google Shape;165;p26" title="Two Watches MockUp.jpg"/>
          <p:cNvPicPr preferRelativeResize="0"/>
          <p:nvPr/>
        </p:nvPicPr>
        <p:blipFill>
          <a:blip r:embed="rId3">
            <a:alphaModFix/>
          </a:blip>
          <a:stretch>
            <a:fillRect/>
          </a:stretch>
        </p:blipFill>
        <p:spPr>
          <a:xfrm>
            <a:off x="4083825" y="1768198"/>
            <a:ext cx="4310052" cy="3160978"/>
          </a:xfrm>
          <a:prstGeom prst="rect">
            <a:avLst/>
          </a:prstGeom>
          <a:noFill/>
          <a:ln>
            <a:noFill/>
          </a:ln>
        </p:spPr>
      </p:pic>
      <p:pic>
        <p:nvPicPr>
          <p:cNvPr id="166" name="Google Shape;166;p26"/>
          <p:cNvPicPr preferRelativeResize="0"/>
          <p:nvPr/>
        </p:nvPicPr>
        <p:blipFill>
          <a:blip r:embed="rId4">
            <a:alphaModFix/>
          </a:blip>
          <a:stretch>
            <a:fillRect/>
          </a:stretch>
        </p:blipFill>
        <p:spPr>
          <a:xfrm>
            <a:off x="70925" y="2037075"/>
            <a:ext cx="2121950" cy="3004525"/>
          </a:xfrm>
          <a:prstGeom prst="rect">
            <a:avLst/>
          </a:prstGeom>
          <a:noFill/>
          <a:ln>
            <a:noFill/>
          </a:ln>
        </p:spPr>
      </p:pic>
      <p:pic>
        <p:nvPicPr>
          <p:cNvPr id="167" name="Google Shape;167;p26"/>
          <p:cNvPicPr preferRelativeResize="0"/>
          <p:nvPr/>
        </p:nvPicPr>
        <p:blipFill>
          <a:blip r:embed="rId5">
            <a:alphaModFix/>
          </a:blip>
          <a:stretch>
            <a:fillRect/>
          </a:stretch>
        </p:blipFill>
        <p:spPr>
          <a:xfrm>
            <a:off x="1971175" y="2037075"/>
            <a:ext cx="2042544" cy="28921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solidFill>
                <a:srgbClr val="3C78D8"/>
              </a:solidFill>
            </a:endParaRPr>
          </a:p>
        </p:txBody>
      </p:sp>
      <p:sp>
        <p:nvSpPr>
          <p:cNvPr id="173" name="Google Shape;173;p27"/>
          <p:cNvSpPr txBox="1"/>
          <p:nvPr>
            <p:ph idx="1" type="body"/>
          </p:nvPr>
        </p:nvSpPr>
        <p:spPr>
          <a:xfrm>
            <a:off x="311695" y="1152415"/>
            <a:ext cx="8520600" cy="33027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Char char="●"/>
            </a:pPr>
            <a:r>
              <a:rPr lang="en" sz="1100">
                <a:solidFill>
                  <a:srgbClr val="000000"/>
                </a:solidFill>
              </a:rPr>
              <a:t>Sun Buddy logo</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Open up to Q&amp;A</a:t>
            </a:r>
            <a:endParaRPr sz="1100">
              <a:solidFill>
                <a:srgbClr val="000000"/>
              </a:solidFill>
            </a:endParaRPr>
          </a:p>
          <a:p>
            <a:pPr indent="0" lvl="0" marL="0" rtl="0" algn="l">
              <a:spcBef>
                <a:spcPts val="1200"/>
              </a:spcBef>
              <a:spcAft>
                <a:spcPts val="1200"/>
              </a:spcAft>
              <a:buNone/>
            </a:pPr>
            <a:r>
              <a:t/>
            </a:r>
            <a:endParaRPr>
              <a:solidFill>
                <a:srgbClr val="000000"/>
              </a:solidFill>
            </a:endParaRPr>
          </a:p>
        </p:txBody>
      </p:sp>
      <p:pic>
        <p:nvPicPr>
          <p:cNvPr id="174" name="Google Shape;174;p27"/>
          <p:cNvPicPr preferRelativeResize="0"/>
          <p:nvPr/>
        </p:nvPicPr>
        <p:blipFill rotWithShape="1">
          <a:blip r:embed="rId3">
            <a:alphaModFix/>
          </a:blip>
          <a:srcRect b="16669" l="4626" r="5888" t="11574"/>
          <a:stretch/>
        </p:blipFill>
        <p:spPr>
          <a:xfrm>
            <a:off x="5000625" y="726288"/>
            <a:ext cx="3357575" cy="36909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